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arlow Bold" charset="1" panose="00000800000000000000"/>
      <p:regular r:id="rId15"/>
    </p:embeddedFont>
    <p:embeddedFont>
      <p:font typeface="Canva Sans Bold" charset="1" panose="020B0803030501040103"/>
      <p:regular r:id="rId16"/>
    </p:embeddedFont>
    <p:embeddedFont>
      <p:font typeface="Canva Sans Bold Italics" charset="1" panose="020B0803030501040103"/>
      <p:regular r:id="rId17"/>
    </p:embeddedFont>
    <p:embeddedFont>
      <p:font typeface="Canva Sans" charset="1" panose="020B0503030501040103"/>
      <p:regular r:id="rId18"/>
    </p:embeddedFont>
    <p:embeddedFont>
      <p:font typeface="Canva Sans Italic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40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41440" y="-191131"/>
            <a:ext cx="5605120" cy="1721644"/>
            <a:chOff x="0" y="0"/>
            <a:chExt cx="7473493" cy="2295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490" cy="2295525"/>
            </a:xfrm>
            <a:custGeom>
              <a:avLst/>
              <a:gdLst/>
              <a:ahLst/>
              <a:cxnLst/>
              <a:rect r="r" b="b" t="t" l="l"/>
              <a:pathLst>
                <a:path h="2295525" w="7473490">
                  <a:moveTo>
                    <a:pt x="0" y="0"/>
                  </a:moveTo>
                  <a:lnTo>
                    <a:pt x="7473490" y="0"/>
                  </a:lnTo>
                  <a:lnTo>
                    <a:pt x="7473490" y="2295525"/>
                  </a:lnTo>
                  <a:lnTo>
                    <a:pt x="0" y="2295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7473493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599"/>
                </a:lnSpc>
              </a:pPr>
              <a:r>
                <a:rPr lang="en-US" sz="5499" b="true">
                  <a:solidFill>
                    <a:srgbClr val="EDE8D0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SAHAY - सहाय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34391" y="9595380"/>
            <a:ext cx="133883" cy="39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07869" y="1100022"/>
            <a:ext cx="8524104" cy="45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2"/>
              </a:lnSpc>
              <a:spcBef>
                <a:spcPct val="0"/>
              </a:spcBef>
            </a:pPr>
            <a:r>
              <a:rPr lang="en-US" b="true" sz="2616" i="true">
                <a:solidFill>
                  <a:srgbClr val="FFDE59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“ Sampo</a:t>
            </a:r>
            <a:r>
              <a:rPr lang="en-US" b="true" sz="2616" i="true">
                <a:solidFill>
                  <a:srgbClr val="FFDE59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orna Aarogya &amp; Humari Assistance Yojana 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93883" y="1768638"/>
            <a:ext cx="1375207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 One Nation, One Health Platform – For Every Mind, Every Body, Every Village "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83890" y="3028089"/>
            <a:ext cx="12372061" cy="2926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2"/>
              </a:lnSpc>
              <a:spcBef>
                <a:spcPct val="0"/>
              </a:spcBef>
            </a:pPr>
            <a:r>
              <a:rPr lang="en-US" b="true" sz="2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</a:t>
            </a:r>
            <a:r>
              <a:rPr lang="en-US" b="true" sz="2723" i="true">
                <a:solidFill>
                  <a:srgbClr val="FFDE59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SAHA</a:t>
            </a:r>
            <a:r>
              <a:rPr lang="en-US" b="true" sz="2723" i="true">
                <a:solidFill>
                  <a:srgbClr val="FFDE59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Y</a:t>
            </a:r>
            <a:r>
              <a:rPr lang="en-US" b="true" sz="272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? </a:t>
            </a:r>
          </a:p>
          <a:p>
            <a:pPr algn="ctr">
              <a:lnSpc>
                <a:spcPts val="3252"/>
              </a:lnSpc>
              <a:spcBef>
                <a:spcPct val="0"/>
              </a:spcBef>
            </a:pPr>
          </a:p>
          <a:p>
            <a:pPr algn="ctr">
              <a:lnSpc>
                <a:spcPts val="3252"/>
              </a:lnSpc>
              <a:spcBef>
                <a:spcPct val="0"/>
              </a:spcBef>
            </a:pPr>
            <a:r>
              <a:rPr lang="en-US" sz="2323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India's first AI-powered, offline-first, inclusive public health intelligence network that provides</a:t>
            </a:r>
          </a:p>
          <a:p>
            <a:pPr algn="ctr">
              <a:lnSpc>
                <a:spcPts val="3252"/>
              </a:lnSpc>
              <a:spcBef>
                <a:spcPct val="0"/>
              </a:spcBef>
            </a:pPr>
            <a:r>
              <a:rPr lang="en-US" sz="2323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universal healthcare access, daily wellness tracking, neurodiverse support, blockchain accountability, and real-time</a:t>
            </a:r>
          </a:p>
          <a:p>
            <a:pPr algn="ctr">
              <a:lnSpc>
                <a:spcPts val="3252"/>
              </a:lnSpc>
              <a:spcBef>
                <a:spcPct val="0"/>
              </a:spcBef>
            </a:pPr>
            <a:r>
              <a:rPr lang="en-US" sz="2323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government intelligence – all on ONE platform.</a:t>
            </a:r>
          </a:p>
        </p:txBody>
      </p:sp>
      <p:sp>
        <p:nvSpPr>
          <p:cNvPr name="AutoShape 9" id="9"/>
          <p:cNvSpPr/>
          <p:nvPr/>
        </p:nvSpPr>
        <p:spPr>
          <a:xfrm>
            <a:off x="2393883" y="2773844"/>
            <a:ext cx="1375207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10" id="10"/>
          <p:cNvSpPr/>
          <p:nvPr/>
        </p:nvSpPr>
        <p:spPr>
          <a:xfrm>
            <a:off x="2393883" y="6481445"/>
            <a:ext cx="1375207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4944975" y="7310120"/>
            <a:ext cx="8649891" cy="226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7"/>
              </a:lnSpc>
            </a:pPr>
            <a:r>
              <a:rPr lang="en-US" sz="21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</a:t>
            </a:r>
            <a:r>
              <a:rPr lang="en-US" sz="216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b="true" sz="2162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ZerOne (Chandigarh University</a:t>
            </a:r>
            <a:r>
              <a:rPr lang="en-US" sz="216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</a:t>
            </a:r>
          </a:p>
          <a:p>
            <a:pPr algn="ctr">
              <a:lnSpc>
                <a:spcPts val="3027"/>
              </a:lnSpc>
            </a:pPr>
          </a:p>
          <a:p>
            <a:pPr algn="ctr">
              <a:lnSpc>
                <a:spcPts val="3027"/>
              </a:lnSpc>
            </a:pPr>
            <a:r>
              <a:rPr lang="en-US" sz="216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62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Sahil Dhillon | Armaan Alam | Millee Kesarwani | Kumar Utkarsh</a:t>
            </a:r>
          </a:p>
          <a:p>
            <a:pPr algn="ctr">
              <a:lnSpc>
                <a:spcPts val="3027"/>
              </a:lnSpc>
            </a:pPr>
          </a:p>
          <a:p>
            <a:pPr algn="ctr">
              <a:lnSpc>
                <a:spcPts val="3027"/>
              </a:lnSpc>
            </a:pPr>
            <a:r>
              <a:rPr lang="en-US" sz="21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Domain:</a:t>
            </a:r>
            <a:r>
              <a:rPr lang="en-US" sz="216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162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AI/ML • Healthcare • IoT • Blockchain • Accessibility</a:t>
            </a:r>
          </a:p>
          <a:p>
            <a:pPr algn="ctr">
              <a:lnSpc>
                <a:spcPts val="302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40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5678" y="-1396694"/>
            <a:ext cx="24939357" cy="2793387"/>
            <a:chOff x="0" y="0"/>
            <a:chExt cx="33252476" cy="37245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252473" cy="3724516"/>
            </a:xfrm>
            <a:custGeom>
              <a:avLst/>
              <a:gdLst/>
              <a:ahLst/>
              <a:cxnLst/>
              <a:rect r="r" b="b" t="t" l="l"/>
              <a:pathLst>
                <a:path h="3724516" w="33252473">
                  <a:moveTo>
                    <a:pt x="0" y="0"/>
                  </a:moveTo>
                  <a:lnTo>
                    <a:pt x="33252473" y="0"/>
                  </a:lnTo>
                  <a:lnTo>
                    <a:pt x="33252473" y="3724516"/>
                  </a:lnTo>
                  <a:lnTo>
                    <a:pt x="0" y="3724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3252476" cy="3734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EDE8D0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PROBLEM STATEMENT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30562" y="9595380"/>
            <a:ext cx="141551" cy="39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10561" y="990600"/>
            <a:ext cx="14066877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"Imagine y</a:t>
            </a:r>
            <a:r>
              <a:rPr lang="en-US" b="true" sz="2100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ou're a mother in a remote village. Your child has had fever for 3 days. The nearest doctor is 40 km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DE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away. You have no smartphone, no internet, and no money for private care. What do you do?"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855004"/>
            <a:ext cx="6087445" cy="604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  <a:spcBef>
                <a:spcPct val="0"/>
              </a:spcBef>
            </a:pPr>
            <a:r>
              <a:rPr lang="en-US" b="true" sz="22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India’s</a:t>
            </a:r>
            <a:r>
              <a:rPr lang="en-US" b="true" sz="22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Healthcare Crisis — Key Numbers</a:t>
            </a:r>
          </a:p>
          <a:p>
            <a:pPr algn="ctr">
              <a:lnSpc>
                <a:spcPts val="1723"/>
              </a:lnSpc>
              <a:spcBef>
                <a:spcPct val="0"/>
              </a:spcBef>
            </a:pPr>
          </a:p>
          <a:p>
            <a:pPr algn="l" marL="389905" indent="-194953" lvl="1">
              <a:lnSpc>
                <a:spcPts val="25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40 crore without healthcare access → </a:t>
            </a:r>
            <a:r>
              <a:rPr lang="en-US" sz="1805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1 in 3 Indians can’t see a doctor when sick</a:t>
            </a:r>
          </a:p>
          <a:p>
            <a:pPr algn="l" marL="389905" indent="-194953" lvl="1">
              <a:lnSpc>
                <a:spcPts val="25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Rural doctor–patient ratio: 1:25,000 → </a:t>
            </a:r>
            <a:r>
              <a:rPr lang="en-US" sz="1805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WHO standard is 1:1,000 (25× worse)</a:t>
            </a:r>
          </a:p>
          <a:p>
            <a:pPr algn="l" marL="389905" indent="-194953" lvl="1">
              <a:lnSpc>
                <a:spcPts val="25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 crore children with undiagnosed developmental delays → </a:t>
            </a:r>
            <a:r>
              <a:rPr lang="en-US" sz="1805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Miss early therapy window</a:t>
            </a:r>
          </a:p>
          <a:p>
            <a:pPr algn="l" marL="389905" indent="-194953" lvl="1">
              <a:lnSpc>
                <a:spcPts val="25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Autism diagnosis delay: 7 years → </a:t>
            </a:r>
            <a:r>
              <a:rPr lang="en-US" sz="1805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90% brain development completes by age 5</a:t>
            </a:r>
          </a:p>
          <a:p>
            <a:pPr algn="l" marL="389905" indent="-194953" lvl="1">
              <a:lnSpc>
                <a:spcPts val="25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90% districts lack mental health professionals →</a:t>
            </a:r>
            <a:r>
              <a:rPr lang="en-US" sz="1805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Mental illnesses go untreated</a:t>
            </a:r>
          </a:p>
          <a:p>
            <a:pPr algn="l" marL="389905" indent="-194953" lvl="1">
              <a:lnSpc>
                <a:spcPts val="25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₹4.5 lakh crore annual economic loss → </a:t>
            </a:r>
            <a:r>
              <a:rPr lang="en-US" sz="1805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Ill health reduces productivity and income</a:t>
            </a:r>
          </a:p>
          <a:p>
            <a:pPr algn="l" marL="389905" indent="-194953" lvl="1">
              <a:lnSpc>
                <a:spcPts val="25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 lakh preventable deaths/year → </a:t>
            </a:r>
            <a:r>
              <a:rPr lang="en-US" sz="1805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Basic care could save these lives</a:t>
            </a:r>
          </a:p>
          <a:p>
            <a:pPr algn="l" marL="389905" indent="-194953" lvl="1">
              <a:lnSpc>
                <a:spcPts val="252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65% can’t use telemedicine → </a:t>
            </a:r>
            <a:r>
              <a:rPr lang="en-US" sz="1805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No smartphone or stable internet</a:t>
            </a:r>
          </a:p>
          <a:p>
            <a:pPr algn="ctr">
              <a:lnSpc>
                <a:spcPts val="229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453475" y="1912918"/>
            <a:ext cx="5425056" cy="793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1"/>
              </a:lnSpc>
            </a:pPr>
            <a:r>
              <a:rPr lang="en-US" sz="198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Triple Exclusion Problem</a:t>
            </a:r>
          </a:p>
          <a:p>
            <a:pPr algn="ctr">
              <a:lnSpc>
                <a:spcPts val="2781"/>
              </a:lnSpc>
            </a:pPr>
          </a:p>
          <a:p>
            <a:pPr algn="l">
              <a:lnSpc>
                <a:spcPts val="2781"/>
              </a:lnSpc>
            </a:pPr>
            <a:r>
              <a:rPr lang="en-US" sz="198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1️⃣ Geographic Exclusion</a:t>
            </a:r>
          </a:p>
          <a:p>
            <a:pPr algn="l" marL="428923" indent="-214461" lvl="1">
              <a:lnSpc>
                <a:spcPts val="2781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Rural areas lack hospitals and specialists</a:t>
            </a:r>
          </a:p>
          <a:p>
            <a:pPr algn="l" marL="428923" indent="-214461" lvl="1">
              <a:lnSpc>
                <a:spcPts val="2781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70% of rural people travel 30+ km for basic care</a:t>
            </a:r>
          </a:p>
          <a:p>
            <a:pPr algn="l" marL="428923" indent="-214461" lvl="1">
              <a:lnSpc>
                <a:spcPts val="2781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Mobile network is weak or unavailable</a:t>
            </a:r>
          </a:p>
          <a:p>
            <a:pPr algn="l">
              <a:lnSpc>
                <a:spcPts val="2781"/>
              </a:lnSpc>
            </a:pPr>
            <a:r>
              <a:rPr lang="en-US" sz="198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2️⃣ Economic Exclusion</a:t>
            </a:r>
          </a:p>
          <a:p>
            <a:pPr algn="l" marL="428923" indent="-214461" lvl="1">
              <a:lnSpc>
                <a:spcPts val="2781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Smartphones (₹10,000+) are unaffordable</a:t>
            </a:r>
          </a:p>
          <a:p>
            <a:pPr algn="l" marL="428923" indent="-214461" lvl="1">
              <a:lnSpc>
                <a:spcPts val="2781"/>
              </a:lnSpc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Mobile data (₹200–500/month) is costly</a:t>
            </a:r>
          </a:p>
          <a:p>
            <a:pPr algn="l" marL="428923" indent="-214461" lvl="1">
              <a:lnSpc>
                <a:spcPts val="2781"/>
              </a:lnSpc>
              <a:spcBef>
                <a:spcPct val="0"/>
              </a:spcBef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Private healthcare is </a:t>
            </a:r>
            <a:r>
              <a:rPr lang="en-US" sz="19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 of reach</a:t>
            </a:r>
          </a:p>
          <a:p>
            <a:pPr algn="l">
              <a:lnSpc>
                <a:spcPts val="2781"/>
              </a:lnSpc>
              <a:spcBef>
                <a:spcPct val="0"/>
              </a:spcBef>
            </a:pPr>
            <a:r>
              <a:rPr lang="en-US" b="true" sz="198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3️⃣ Cognitive Exclusion</a:t>
            </a:r>
          </a:p>
          <a:p>
            <a:pPr algn="l" marL="428923" indent="-214461" lvl="1">
              <a:lnSpc>
                <a:spcPts val="2781"/>
              </a:lnSpc>
              <a:spcBef>
                <a:spcPct val="0"/>
              </a:spcBef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30 crore illiterate Indians can’t use text-based apps</a:t>
            </a:r>
          </a:p>
          <a:p>
            <a:pPr algn="l" marL="428923" indent="-214461" lvl="1">
              <a:lnSpc>
                <a:spcPts val="2781"/>
              </a:lnSpc>
              <a:spcBef>
                <a:spcPct val="0"/>
              </a:spcBef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Neurodiverse users find current apps overwhelming</a:t>
            </a:r>
          </a:p>
          <a:p>
            <a:pPr algn="l" marL="428923" indent="-214461" lvl="1">
              <a:lnSpc>
                <a:spcPts val="2781"/>
              </a:lnSpc>
              <a:spcBef>
                <a:spcPct val="0"/>
              </a:spcBef>
              <a:buFont typeface="Arial"/>
              <a:buChar char="•"/>
            </a:pPr>
            <a:r>
              <a:rPr lang="en-US" sz="198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tools designed for varied cognitive abilities</a:t>
            </a:r>
          </a:p>
          <a:p>
            <a:pPr algn="l">
              <a:lnSpc>
                <a:spcPts val="2781"/>
              </a:lnSpc>
              <a:spcBef>
                <a:spcPct val="0"/>
              </a:spcBef>
            </a:pPr>
            <a:r>
              <a:rPr lang="en-US" b="true" sz="198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⚠️ Intersection: A neurodiverse child in a poor rural family has zero access to diagnosis, therapy, or support.</a:t>
            </a:r>
          </a:p>
          <a:p>
            <a:pPr algn="l">
              <a:lnSpc>
                <a:spcPts val="2781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878531" y="1903393"/>
            <a:ext cx="6093582" cy="8574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5"/>
              </a:lnSpc>
            </a:pPr>
            <a:r>
              <a:rPr lang="en-US" sz="194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What’s Missing Today — The Core Gaps </a:t>
            </a:r>
          </a:p>
          <a:p>
            <a:pPr algn="ctr">
              <a:lnSpc>
                <a:spcPts val="2725"/>
              </a:lnSpc>
            </a:pPr>
          </a:p>
          <a:p>
            <a:pPr algn="l" marL="420330" indent="-210165" lvl="1">
              <a:lnSpc>
                <a:spcPts val="2725"/>
              </a:lnSpc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single platform covering physical, mental, and developmental health</a:t>
            </a:r>
          </a:p>
          <a:p>
            <a:pPr algn="l" marL="420330" indent="-210165" lvl="1">
              <a:lnSpc>
                <a:spcPts val="2725"/>
              </a:lnSpc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offline-capable system for zero-connectivity regions</a:t>
            </a:r>
          </a:p>
          <a:p>
            <a:pPr algn="l" marL="420330" indent="-210165" lvl="1">
              <a:lnSpc>
                <a:spcPts val="2725"/>
              </a:lnSpc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voice-first access for 30 crore illiterate citizens</a:t>
            </a:r>
          </a:p>
          <a:p>
            <a:pPr algn="l" marL="420330" indent="-210165" lvl="1">
              <a:lnSpc>
                <a:spcPts val="2725"/>
              </a:lnSpc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neurodiverse-friendly health technology</a:t>
            </a:r>
          </a:p>
          <a:p>
            <a:pPr algn="l" marL="420330" indent="-210165" lvl="1">
              <a:lnSpc>
                <a:spcPts val="2725"/>
              </a:lnSpc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daily wellness tracking linked with medical care</a:t>
            </a:r>
          </a:p>
          <a:p>
            <a:pPr algn="l" marL="420330" indent="-210165" lvl="1">
              <a:lnSpc>
                <a:spcPts val="2725"/>
              </a:lnSpc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real-time health data for government decisions</a:t>
            </a:r>
          </a:p>
          <a:p>
            <a:pPr algn="l" marL="420330" indent="-210165" lvl="1">
              <a:lnSpc>
                <a:spcPts val="2725"/>
              </a:lnSpc>
              <a:spcBef>
                <a:spcPct val="0"/>
              </a:spcBef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predictive systems for </a:t>
            </a:r>
            <a:r>
              <a:rPr lang="en-US" sz="19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outbreaks or developmental trends</a:t>
            </a:r>
          </a:p>
          <a:p>
            <a:pPr algn="l" marL="420330" indent="-210165" lvl="1">
              <a:lnSpc>
                <a:spcPts val="2725"/>
              </a:lnSpc>
              <a:spcBef>
                <a:spcPct val="0"/>
              </a:spcBef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integration across Anganwadi, ASHA, PHCs, and hospitals</a:t>
            </a:r>
          </a:p>
          <a:p>
            <a:pPr algn="l" marL="420330" indent="-210165" lvl="1">
              <a:lnSpc>
                <a:spcPts val="2725"/>
              </a:lnSpc>
              <a:spcBef>
                <a:spcPct val="0"/>
              </a:spcBef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employment pathways for persons with disabilities</a:t>
            </a:r>
          </a:p>
          <a:p>
            <a:pPr algn="l" marL="420330" indent="-210165" lvl="1">
              <a:lnSpc>
                <a:spcPts val="2725"/>
              </a:lnSpc>
              <a:spcBef>
                <a:spcPct val="0"/>
              </a:spcBef>
              <a:buFont typeface="Arial"/>
              <a:buChar char="•"/>
            </a:pPr>
            <a:r>
              <a:rPr lang="en-US" sz="19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tamper-proof complaint system—grievances get lost</a:t>
            </a:r>
          </a:p>
          <a:p>
            <a:pPr algn="l">
              <a:lnSpc>
                <a:spcPts val="2725"/>
              </a:lnSpc>
              <a:spcBef>
                <a:spcPct val="0"/>
              </a:spcBef>
            </a:pPr>
            <a:r>
              <a:rPr lang="en-US" b="true" sz="194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Insight: </a:t>
            </a:r>
            <a:r>
              <a:rPr lang="en-US" b="true" sz="1946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India spends ₹89,000 crore on health, yet decisions rely on 5-year-old, 60% incomplete data (NITI Aayog).</a:t>
            </a:r>
          </a:p>
          <a:p>
            <a:pPr algn="l">
              <a:lnSpc>
                <a:spcPts val="27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3978" y="-906238"/>
            <a:ext cx="14566582" cy="2650331"/>
            <a:chOff x="0" y="0"/>
            <a:chExt cx="19422110" cy="3533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22109" cy="3533776"/>
            </a:xfrm>
            <a:custGeom>
              <a:avLst/>
              <a:gdLst/>
              <a:ahLst/>
              <a:cxnLst/>
              <a:rect r="r" b="b" t="t" l="l"/>
              <a:pathLst>
                <a:path h="3533776" w="19422109">
                  <a:moveTo>
                    <a:pt x="0" y="0"/>
                  </a:moveTo>
                  <a:lnTo>
                    <a:pt x="19422109" y="0"/>
                  </a:lnTo>
                  <a:lnTo>
                    <a:pt x="19422109" y="3533776"/>
                  </a:lnTo>
                  <a:lnTo>
                    <a:pt x="0" y="35337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422110" cy="3543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EDE8D0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PROPOSED SOLUTION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20243" y="5186525"/>
            <a:ext cx="7667757" cy="5100475"/>
          </a:xfrm>
          <a:custGeom>
            <a:avLst/>
            <a:gdLst/>
            <a:ahLst/>
            <a:cxnLst/>
            <a:rect r="r" b="b" t="t" l="l"/>
            <a:pathLst>
              <a:path h="5100475" w="7667757">
                <a:moveTo>
                  <a:pt x="0" y="0"/>
                </a:moveTo>
                <a:lnTo>
                  <a:pt x="7667757" y="0"/>
                </a:lnTo>
                <a:lnTo>
                  <a:pt x="7667757" y="5100475"/>
                </a:lnTo>
                <a:lnTo>
                  <a:pt x="0" y="5100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537" r="-2410" b="-2742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826257" y="9595380"/>
            <a:ext cx="150152" cy="39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2562" y="4426140"/>
            <a:ext cx="7340994" cy="5216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7"/>
              </a:lnSpc>
              <a:spcBef>
                <a:spcPct val="0"/>
              </a:spcBef>
            </a:pPr>
            <a:r>
              <a:rPr lang="en-US" b="true" sz="179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</a:t>
            </a:r>
            <a:r>
              <a:rPr lang="en-US" b="true" sz="179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IS SAHAY?</a:t>
            </a:r>
          </a:p>
          <a:p>
            <a:pPr algn="ctr">
              <a:lnSpc>
                <a:spcPts val="2816"/>
              </a:lnSpc>
              <a:spcBef>
                <a:spcPct val="0"/>
              </a:spcBef>
            </a:pPr>
          </a:p>
          <a:p>
            <a:pPr algn="ctr">
              <a:lnSpc>
                <a:spcPts val="2816"/>
              </a:lnSpc>
            </a:pPr>
            <a:r>
              <a:rPr lang="en-US" b="true" sz="2011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sz="20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SAHAY is India's first AI-powered, offline-first, inclusive public health intelligence network.</a:t>
            </a:r>
          </a:p>
          <a:p>
            <a:pPr algn="l">
              <a:lnSpc>
                <a:spcPts val="2816"/>
              </a:lnSpc>
            </a:pP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It's not just an app – it's a complete health ecosystem that:</a:t>
            </a:r>
          </a:p>
          <a:p>
            <a:pPr algn="l">
              <a:lnSpc>
                <a:spcPts val="2816"/>
              </a:lnSpc>
            </a:pP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• Provides universal healthcare access for underserved communities</a:t>
            </a: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• Offers daily wellness tracking for preventive health</a:t>
            </a: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• Delivers specialized support for neurodiverse individuals</a:t>
            </a: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• Enables blockchain-based accountability for complaints</a:t>
            </a: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• Gives real-time intelligence to government for data-driven policy</a:t>
            </a:r>
          </a:p>
          <a:p>
            <a:pPr algn="l">
              <a:lnSpc>
                <a:spcPts val="281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341263" y="1346932"/>
            <a:ext cx="9485263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DESIGNED FOR EVERYONE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sm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tph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one -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Works on basic feature phone via toll-free IVR call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No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nt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rn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et -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Fully offline-first – AI works locally, syncs when c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nect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Can't read/write - Voice-first interface in 22 I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languages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Different co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iti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ab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il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ies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- Adaptive UI that adjusts to us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's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n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eeds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No health records - B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ockch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ain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-s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ured profile that travels with you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561148" y="1196285"/>
            <a:ext cx="8726852" cy="350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DIFFERENTIATORS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📴 Offlin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e-First -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works completely with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 internet – syncs when available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🗣️ Voice-First -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Just call and speak – no typing, no reading required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🧠 Ada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ptive UI -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Interface changes b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ased on user's co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gnitive abilities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🔮 Predictive AI -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Predicts health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risks and outbreaks before they happen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🔗 Blockchain Secured -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amp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r-proof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ealt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reco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ds a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nd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mpla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ints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🏛️ Govt Integrated - </a:t>
            </a:r>
            <a:r>
              <a:rPr lang="en-US" sz="1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Native integration with ABDM, ICDS, NHM, UDID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68856" y="7185900"/>
            <a:ext cx="245138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THREE-LA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YER ECOSYSTEM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AutoShape 11" id="11"/>
          <p:cNvSpPr/>
          <p:nvPr/>
        </p:nvSpPr>
        <p:spPr>
          <a:xfrm>
            <a:off x="9144000" y="1897380"/>
            <a:ext cx="0" cy="485664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12" id="12"/>
          <p:cNvSpPr/>
          <p:nvPr/>
        </p:nvSpPr>
        <p:spPr>
          <a:xfrm>
            <a:off x="1155249" y="4218097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40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3978" y="-906238"/>
            <a:ext cx="14566582" cy="2650332"/>
            <a:chOff x="0" y="0"/>
            <a:chExt cx="19422110" cy="353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22109" cy="3533777"/>
            </a:xfrm>
            <a:custGeom>
              <a:avLst/>
              <a:gdLst/>
              <a:ahLst/>
              <a:cxnLst/>
              <a:rect r="r" b="b" t="t" l="l"/>
              <a:pathLst>
                <a:path h="3533777" w="19422109">
                  <a:moveTo>
                    <a:pt x="0" y="0"/>
                  </a:moveTo>
                  <a:lnTo>
                    <a:pt x="19422109" y="0"/>
                  </a:lnTo>
                  <a:lnTo>
                    <a:pt x="19422109" y="3533777"/>
                  </a:lnTo>
                  <a:lnTo>
                    <a:pt x="0" y="35337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422110" cy="3543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EDE8D0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KEY FEATURES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26257" y="9595380"/>
            <a:ext cx="150152" cy="39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210" y="1479550"/>
            <a:ext cx="9119406" cy="880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Daily Health Tracking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DailySahay – Everyday Heal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 Compani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</a:t>
            </a:r>
          </a:p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Keeps you healthy daily with c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ontinuous tracking + smart alerts.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Modules :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💓 VitalTrack: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BP, sugar, heart rate, SpO₂, weight → trends &amp; risk alerts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🍎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AaharSahay: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Voice/photo food loggi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ng, Indian di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et plans, nutrition tracking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🚶 FitSahay: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Steps, workouts, yoga, reminders, challenges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😴 N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endSahay: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Sleep tracking, smart alarm, habit insights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💧 JalSahay: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Water goals, reminders, activity &amp; weather-based alerts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🧠 MannSahay: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Mood, stress, me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dit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ation, anxiety checks, SOS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👩 NaariSahay: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Period, pregnancy, menopause, women’s health care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👴 VriddhSahay: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Medicines, fall detection, SOS, family mo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itoring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👶 B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lV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ikas: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Grow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th, m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ilestones,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vaccines, child development alerts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💊 DawaiSahay: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Medicine reminders, interactions, refill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s,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gen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erics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👨‍👩‍👧‍👦 ParivarSahay: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One app for family health &amp; shared care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🩺 ChronicCare: 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Diabetes, BP, ast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hm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a, thyroid, heart management</a:t>
            </a:r>
          </a:p>
          <a:p>
            <a:pPr algn="l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Outcome: </a:t>
            </a:r>
            <a:r>
              <a:rPr lang="en-US" sz="2000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Early detection, better habits, doctor-ready reports, healthier families.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819400" y="1244600"/>
            <a:ext cx="8726852" cy="775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HEALTHCARE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ACCESS FEATURES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SAHAY Solves Access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Voice-first, offline care in 22 Indian languages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triage → self-care / PHC / emergency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Doctor connect via call, prescription by SMS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Early detection &amp; prevention through daily tracking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40% cases resolved locally, reducing hospital overload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Outbreak prediction 2–3 weeks in advance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Modules (Ultra-Short):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🗣️ VoiceSahay: Toll-free AI health helpline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🏥 TeleSahay: Phone/video consults + SMS prescriptions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👩‍⚕️ ASHASahay: Offline AI tools for health workers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💉 VaxTrack: Vaccine schedules, reminders, certificates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🔗 HealthChain: Portable, tamper-proof digital health records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🚑 SOS: One-tap emergency with location &amp; medical history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📍 Locator: Nearby hospitals, PHCs, pharmacies, labs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🔮 OutbreakSense: Predictive alerts for diseases &amp; resources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 </a:t>
            </a:r>
            <a:r>
              <a:rPr lang="en-US" sz="2000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Healthcare reaches anyone, anywhere, instantly.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AutoShape 8" id="8"/>
          <p:cNvSpPr/>
          <p:nvPr/>
        </p:nvSpPr>
        <p:spPr>
          <a:xfrm>
            <a:off x="9466213" y="1292225"/>
            <a:ext cx="0" cy="835078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40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826257" y="9595380"/>
            <a:ext cx="150152" cy="39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5888" y="981075"/>
            <a:ext cx="8399012" cy="986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Neurodiversity Support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SAHAY Helps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arly AI screening via ASHA/Ang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anwadi (m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onths, not 7 years)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Affordable at-home therapy with voice/v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ideo guidance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Simple, sensory-safe, adaptive design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Tele-specialists for diagnosis and t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herapy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Skills → jobs with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inclusiv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employers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Awareness &amp; stigma reduction in schools and communities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Modules (Ultra-Short):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🧒 NeuroScreen: 5-min AI screening (autism, ADHD, dyslexia)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🎯 AdaptLearn: Personalized learning styles &amp; pace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🏠 TherapyHome: Speech, OT, behavior therapy at home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🗣️ CommBridge: AAC communication (symbols, TTS, offline)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🛡️ SensoryShield: Calm UI, overload detection, coping tool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📅 Rou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ineBu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ilder: Visual schedules &amp; transitions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⚠️ MeltdownPredict: Early warnings &amp; caregiver al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💼 RozgarSahay: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Skills assessment, job matching, coaching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🤝 NeuroNetwork: Parent groups, mentors, resources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🎓 E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mp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athyTrainer: Training for schools, employers, families</a:t>
            </a:r>
          </a:p>
          <a:p>
            <a:pPr algn="l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Result: </a:t>
            </a:r>
            <a:r>
              <a:rPr lang="en-US" b="true" sz="2000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Early diagnosis, continuous support, independent and dignified lives.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388980" y="422275"/>
            <a:ext cx="8726852" cy="986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SHIKAYATCHAIN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– Blockchain Complaint System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ShikayatChain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Immutable blockchain records – no complaint can be lost or altered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Anonymous &amp; safe – zero retaliation risk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o-escalation – smart contracts enforce deadlines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Full accountability – every action logged with officer ID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You Can Report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Health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care failures, bribery, negligence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Medicine stockouts or overcharging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urodiverse discrimination or denial of services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Insu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rance fraud, platform issues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It Works 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File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via app, call, WhatsApp, or ASHA (voice supported)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egister on blockchain + SMS receipt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Auto-route to authority with SLA timer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Track actions in real time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Auto-escalate (District → State → National) if delayed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Tamper-proof evidence (IPFS)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Voice-based filing in any language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Mandatory user feedback before closure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Public facility &amp; officer performance scores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Outcome: Transparent, unstoppable complaints → real ac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on, re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ice</a:t>
            </a: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AutoShape 5" id="5"/>
          <p:cNvSpPr/>
          <p:nvPr/>
        </p:nvSpPr>
        <p:spPr>
          <a:xfrm flipH="true">
            <a:off x="9144000" y="1897380"/>
            <a:ext cx="0" cy="736092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40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826257" y="9595380"/>
            <a:ext cx="150152" cy="39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6278" y="258886"/>
            <a:ext cx="17575445" cy="1016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Government Intelligence Dashboard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2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G</a:t>
            </a:r>
            <a:r>
              <a:rPr lang="en-US" b="true" sz="22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ovS</a:t>
            </a:r>
            <a:r>
              <a:rPr lang="en-US" b="true" sz="2299" i="true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ahay</a:t>
            </a:r>
            <a:r>
              <a:rPr lang="en-US" b="true" sz="2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– Real-Time He</a:t>
            </a:r>
            <a:r>
              <a:rPr lang="en-US" b="true" sz="2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</a:t>
            </a:r>
            <a:r>
              <a:rPr lang="en-US" b="true" sz="2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 Intelligence</a:t>
            </a:r>
          </a:p>
          <a:p>
            <a:pPr algn="ctr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First system to deliver live village-lev</a:t>
            </a:r>
            <a:r>
              <a:rPr lang="en-US" b="true" sz="2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 health data, not outdated surveys.</a:t>
            </a:r>
          </a:p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🏛️ Three-Level View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District: Block data, local actions, ASHA &amp; PHC p</a:t>
            </a: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erformance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State: District</a:t>
            </a: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comparisons,</a:t>
            </a: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resource &amp; policy tracking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National: Pan-India trends, SDG progress, budget usage</a:t>
            </a:r>
          </a:p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📈 What It Shows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Health heatmaps: diseases, vaccination gaps, maternal/child health, mental health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Disability mapping: autism, ADHD, physical disabilities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Complaint hot</a:t>
            </a: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spo</a:t>
            </a: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ts: facilities with high grievances</a:t>
            </a:r>
          </a:p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🔮 Predictive Analytics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Outbreak warnings 2–3 weeks early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easonal</a:t>
            </a: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disease forecasts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Demand prediction for beds, medicines, staff</a:t>
            </a:r>
          </a:p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🎯 Action &amp; Accountability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Smart resource allocation (mobile clinics, ASHAs, specialists)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Officer &amp; facility performance tracking with SLAs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Scheme integration: ABDM, PM-JAY, ICDS, NHM, UDID, CoWIN</a:t>
            </a:r>
          </a:p>
          <a:p>
            <a:pPr algn="l">
              <a:lnSpc>
                <a:spcPts val="3219"/>
              </a:lnSpc>
            </a:pPr>
          </a:p>
          <a:p>
            <a:pPr algn="ctr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 </a:t>
            </a:r>
            <a:r>
              <a:rPr lang="en-US" sz="2299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Faster decisions, targeted action, and real accountability—powered by live data.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0709" y="-940049"/>
            <a:ext cx="14566582" cy="2650331"/>
            <a:chOff x="0" y="0"/>
            <a:chExt cx="19422110" cy="3533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22109" cy="3533776"/>
            </a:xfrm>
            <a:custGeom>
              <a:avLst/>
              <a:gdLst/>
              <a:ahLst/>
              <a:cxnLst/>
              <a:rect r="r" b="b" t="t" l="l"/>
              <a:pathLst>
                <a:path h="3533776" w="19422109">
                  <a:moveTo>
                    <a:pt x="0" y="0"/>
                  </a:moveTo>
                  <a:lnTo>
                    <a:pt x="19422109" y="0"/>
                  </a:lnTo>
                  <a:lnTo>
                    <a:pt x="19422109" y="3533776"/>
                  </a:lnTo>
                  <a:lnTo>
                    <a:pt x="0" y="35337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422110" cy="3543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EDE8D0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TECHNICAL APPROACH</a:t>
              </a: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9602240" y="1028700"/>
            <a:ext cx="0" cy="822960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874100" y="1129881"/>
            <a:ext cx="8027237" cy="8027237"/>
          </a:xfrm>
          <a:custGeom>
            <a:avLst/>
            <a:gdLst/>
            <a:ahLst/>
            <a:cxnLst/>
            <a:rect r="r" b="b" t="t" l="l"/>
            <a:pathLst>
              <a:path h="8027237" w="8027237">
                <a:moveTo>
                  <a:pt x="0" y="0"/>
                </a:moveTo>
                <a:lnTo>
                  <a:pt x="8027237" y="0"/>
                </a:lnTo>
                <a:lnTo>
                  <a:pt x="8027237" y="8027238"/>
                </a:lnTo>
                <a:lnTo>
                  <a:pt x="0" y="8027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22332" y="9595380"/>
            <a:ext cx="158010" cy="39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769" y="978433"/>
            <a:ext cx="9182247" cy="901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 Stack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React Native (mobile), Next.js PWA (web), WCAG 2.1 AAA UI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Voice/IVR: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Twilio/Exotel, Whisper (STT), Google TTS (regional voices)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AI/ML: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GPT-4/LLaMA (chat), custom health triage, screening AI, outbreak prediction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FastAPI, Node.js (real-time), Kafka, Redis, Celery, Kubernetes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Databases: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PostgreSQL, MongoDB, TimescaleDB, Pinecone, ClickHouse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Blockchain: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Polygon, Solidity smart contracts, IPFS, verifiable IDs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Edge/Offline: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TensorFlow Lite, SQLite, optimized on-device models, smart sync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Govt Integrations: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ABDM, DigiLocker, ICDS, UDID, PM-JAY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Analytics: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Superset, Grafana, Mapbox, D3.js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AES-256, TLS 1.3, JWT/OAuth, RBAC, DPDP-compliant audits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Accessibility: </a:t>
            </a:r>
            <a:r>
              <a:rPr lang="en-US" sz="2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22 Indian languages, OpenDyslexic, screen readers, AAC, calm mode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 </a:t>
            </a:r>
            <a:r>
              <a:rPr lang="en-US" sz="2100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Scalable, offline-first, voice-first, secure, and fully inclusive.</a:t>
            </a:r>
          </a:p>
          <a:p>
            <a:pPr algn="l">
              <a:lnSpc>
                <a:spcPts val="2940"/>
              </a:lnSpc>
            </a:pPr>
          </a:p>
          <a:p>
            <a:pPr algn="ctr">
              <a:lnSpc>
                <a:spcPts val="26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40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39699" y="-955151"/>
            <a:ext cx="14566582" cy="2650332"/>
            <a:chOff x="0" y="0"/>
            <a:chExt cx="19422110" cy="35337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22109" cy="3533777"/>
            </a:xfrm>
            <a:custGeom>
              <a:avLst/>
              <a:gdLst/>
              <a:ahLst/>
              <a:cxnLst/>
              <a:rect r="r" b="b" t="t" l="l"/>
              <a:pathLst>
                <a:path h="3533777" w="19422109">
                  <a:moveTo>
                    <a:pt x="0" y="0"/>
                  </a:moveTo>
                  <a:lnTo>
                    <a:pt x="19422109" y="0"/>
                  </a:lnTo>
                  <a:lnTo>
                    <a:pt x="19422109" y="3533777"/>
                  </a:lnTo>
                  <a:lnTo>
                    <a:pt x="0" y="35337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422110" cy="3543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EDE8D0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FEASIBILITY ANALYSIS and IMPACTS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18979" y="9595380"/>
            <a:ext cx="164706" cy="39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317" y="923305"/>
            <a:ext cx="8977683" cy="880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 Technical Feasibility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 technologies are production-ready and proven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Voice AI in 22+ Indian languages, offline AI supported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Blockchain (Polygon) enables fast, low-cost, tamper-proof systems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Existing government APIs readily integrable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Scales easily using Kubernetes infrastructure</a:t>
            </a:r>
          </a:p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 Operational Feasibility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Voice-first design → no literacy or training barrier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ASHAs onboarded with 2-hour in-app training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Uses existing health infrastructure and works fully offline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Low maintenance via self-learning AI models</a:t>
            </a:r>
          </a:p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 Economic Feasibility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MVP cost ₹50–80 lakhs (mostly open-source)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</a:t>
            </a: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ry low operating costs (₹&lt;1 blockchain txn, ₹0.50/min IVR)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extra hardware required for users or field workers</a:t>
            </a:r>
          </a:p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📈 Revenue &amp; ROI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Revenue via government licensing, hospitals, freemium users, CSR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Government saves ~₹35,000 Cr/year through prevention and efficiency</a:t>
            </a:r>
          </a:p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⏱️ Timeline &amp; Risk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MVP in 3 months, state pilot in 9 months, national scale in 24 months</a:t>
            </a:r>
          </a:p>
          <a:p>
            <a:pPr algn="l" marL="437327" indent="-218664" lvl="1">
              <a:lnSpc>
                <a:spcPts val="2835"/>
              </a:lnSpc>
              <a:buFont typeface="Arial"/>
              <a:buChar char="•"/>
            </a:pPr>
            <a:r>
              <a:rPr lang="en-US" sz="20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Risks handled via IVR, offline-first design, blockchain security</a:t>
            </a:r>
          </a:p>
          <a:p>
            <a:pPr algn="l">
              <a:lnSpc>
                <a:spcPts val="2835"/>
              </a:lnSpc>
            </a:pPr>
          </a:p>
          <a:p>
            <a:pPr algn="ctr">
              <a:lnSpc>
                <a:spcPts val="2835"/>
              </a:lnSpc>
            </a:pPr>
            <a:r>
              <a:rPr lang="en-US" b="true" sz="202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Verdict: </a:t>
            </a:r>
            <a:r>
              <a:rPr lang="en-US" sz="2025" i="tru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Feasible, scalable, cost-effective, and implementation-ready.</a:t>
            </a:r>
          </a:p>
          <a:p>
            <a:pPr algn="l">
              <a:lnSpc>
                <a:spcPts val="283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81921" y="932830"/>
            <a:ext cx="8601558" cy="1024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👥 For General Public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40+ crore gain healthcare access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70% less travel for consultations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24 lakh lives/year saved via early detection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Nationwide daily health tracking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60% fewer chronic complications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₹5,000/year saved per family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🧠 For Neurodiverse Community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 crore children screened early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Diagnosis delay cut 7 years → 7 months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70% lower therapy costs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10+ lakh neurodiverse adults employed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1+ crore families supported, 5+ lakh schools trained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🏛️ For Government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100% real-time village health data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2–3 weeks early outbreak warnings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Accurate disability mapping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₹35,000 Cr budget savings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Lower corruption, real-time SDG-3 tracking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💰 For Economy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₹50,000 Cr GDP boost from healthier workforce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₹15,000 Cr saved via prevention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₹5,000 Cr from neurodiverse employment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₹10,000 Cr efficiency gains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AutoShape 8" id="8"/>
          <p:cNvSpPr/>
          <p:nvPr/>
        </p:nvSpPr>
        <p:spPr>
          <a:xfrm flipH="true">
            <a:off x="9415221" y="1121913"/>
            <a:ext cx="0" cy="813638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40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41822" y="-431836"/>
            <a:ext cx="12004355" cy="1721644"/>
            <a:chOff x="0" y="0"/>
            <a:chExt cx="16005807" cy="2295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05806" cy="2295525"/>
            </a:xfrm>
            <a:custGeom>
              <a:avLst/>
              <a:gdLst/>
              <a:ahLst/>
              <a:cxnLst/>
              <a:rect r="r" b="b" t="t" l="l"/>
              <a:pathLst>
                <a:path h="2295525" w="16005806">
                  <a:moveTo>
                    <a:pt x="0" y="0"/>
                  </a:moveTo>
                  <a:lnTo>
                    <a:pt x="16005806" y="0"/>
                  </a:lnTo>
                  <a:lnTo>
                    <a:pt x="16005806" y="2295525"/>
                  </a:lnTo>
                  <a:lnTo>
                    <a:pt x="0" y="22955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005807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EDE8D0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Unique Selling Points (USPs)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837010" y="9595380"/>
            <a:ext cx="128645" cy="396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5150" y="1232658"/>
            <a:ext cx="16737701" cy="900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India’s First truly unified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he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 platform – physical, mental, developmental &amp; daily wellness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📴 Offline-first – works even with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 in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ternet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🗣️ Voice-first (22 languages) – includes 30 crore illit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erate 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tizens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🧠 Neurodiverse-native des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ign 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–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built for them, not adapted later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🔗 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Blockchain ac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countability – complaints 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’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be deleted or ignored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🔮 Predict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AI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– detects outbreaks and r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sks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advance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👶➡️💼 Lifelong support – from birth to employment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🏛️ Gov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-r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eady – integrates with ABDM, ICDS, NHM, UDID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👩‍⚕️ Frontline empowerment – ASHAs &amp; A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ganwad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becom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AI-enabled</a:t>
            </a:r>
          </a:p>
          <a:p>
            <a:pPr algn="just">
              <a:lnSpc>
                <a:spcPts val="3640"/>
              </a:lnSpc>
            </a:pPr>
          </a:p>
          <a:p>
            <a:pPr algn="just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📊 Daily engagement – wellness every day, not just on sick days</a:t>
            </a:r>
          </a:p>
          <a:p>
            <a:pPr algn="just">
              <a:lnSpc>
                <a:spcPts val="247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DAG_MwLC2BI</dc:identifier>
  <dcterms:modified xsi:type="dcterms:W3CDTF">2011-08-01T06:04:30Z</dcterms:modified>
  <cp:revision>1</cp:revision>
  <dc:title>The Triple Exclusion Problem (Shortened) 1️⃣ Geographic Exclusion Rural areas lack hospitals and specialists 70% of rural people travel 30+ km for basic care Mobile network is weak or unavailable 2️⃣ Economic Exclusion Smartphones (₹10,000+) are</dc:title>
</cp:coreProperties>
</file>